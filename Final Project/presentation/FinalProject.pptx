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2"/>
  </p:notesMasterIdLst>
  <p:sldIdLst>
    <p:sldId id="256" r:id="rId2"/>
    <p:sldId id="258" r:id="rId3"/>
    <p:sldId id="259" r:id="rId4"/>
    <p:sldId id="270" r:id="rId5"/>
    <p:sldId id="264" r:id="rId6"/>
    <p:sldId id="260" r:id="rId7"/>
    <p:sldId id="271" r:id="rId8"/>
    <p:sldId id="263" r:id="rId9"/>
    <p:sldId id="261" r:id="rId10"/>
    <p:sldId id="265" r:id="rId11"/>
    <p:sldId id="266" r:id="rId12"/>
    <p:sldId id="268" r:id="rId13"/>
    <p:sldId id="284" r:id="rId14"/>
    <p:sldId id="269" r:id="rId15"/>
    <p:sldId id="283" r:id="rId16"/>
    <p:sldId id="279" r:id="rId17"/>
    <p:sldId id="267" r:id="rId18"/>
    <p:sldId id="280" r:id="rId19"/>
    <p:sldId id="282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61F0FC1-ADAC-488C-8F92-A0EA6FB2CFA0}">
          <p14:sldIdLst>
            <p14:sldId id="256"/>
            <p14:sldId id="258"/>
            <p14:sldId id="259"/>
            <p14:sldId id="270"/>
            <p14:sldId id="264"/>
            <p14:sldId id="260"/>
            <p14:sldId id="271"/>
            <p14:sldId id="263"/>
            <p14:sldId id="261"/>
            <p14:sldId id="265"/>
            <p14:sldId id="266"/>
            <p14:sldId id="268"/>
            <p14:sldId id="284"/>
            <p14:sldId id="269"/>
            <p14:sldId id="283"/>
            <p14:sldId id="279"/>
            <p14:sldId id="267"/>
            <p14:sldId id="280"/>
            <p14:sldId id="282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72B3"/>
    <a:srgbClr val="C44E52"/>
    <a:srgbClr val="55A868"/>
    <a:srgbClr val="4C72B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26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07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F871F-4F14-4654-83CA-983B94F2FDB7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A64BC-958A-4CA1-8680-8241197A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1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9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9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6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1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8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6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7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9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CEB0F-70D6-4910-A075-BF9E6F687C2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蓝色水彩墨迹晕染PPT背景- 优品PPT">
            <a:extLst>
              <a:ext uri="{FF2B5EF4-FFF2-40B4-BE49-F238E27FC236}">
                <a16:creationId xmlns:a16="http://schemas.microsoft.com/office/drawing/2014/main" id="{9D950EFD-557C-E5C8-39F7-369703813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9601914-AEE7-CB01-B342-73A38B357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6140"/>
            <a:ext cx="9144000" cy="2844138"/>
          </a:xfrm>
        </p:spPr>
        <p:txBody>
          <a:bodyPr>
            <a:normAutofit/>
          </a:bodyPr>
          <a:lstStyle/>
          <a:p>
            <a:r>
              <a:rPr lang="en-US" noProof="0" dirty="0"/>
              <a:t>Parallel Programming</a:t>
            </a:r>
            <a:br>
              <a:rPr lang="en-US" noProof="0" dirty="0"/>
            </a:br>
            <a:r>
              <a:rPr lang="en-US" sz="4800" noProof="0" dirty="0"/>
              <a:t>-Final Project-</a:t>
            </a:r>
            <a:br>
              <a:rPr lang="en-US" sz="4800" noProof="0" dirty="0"/>
            </a:br>
            <a:r>
              <a:rPr lang="en-US" sz="4800" b="0" i="1" noProof="0" dirty="0">
                <a:effectLst/>
              </a:rPr>
              <a:t>N</a:t>
            </a:r>
            <a:r>
              <a:rPr lang="en-US" sz="4800" b="0" i="0" noProof="0" dirty="0">
                <a:effectLst/>
              </a:rPr>
              <a:t>-Body Simulation</a:t>
            </a:r>
            <a:endParaRPr lang="en-US" noProof="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11CB90-DE99-B185-A6DA-B74E381F1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2353"/>
            <a:ext cx="9144000" cy="1655762"/>
          </a:xfrm>
        </p:spPr>
        <p:txBody>
          <a:bodyPr>
            <a:normAutofit/>
          </a:bodyPr>
          <a:lstStyle/>
          <a:p>
            <a:r>
              <a:rPr lang="en-US" noProof="0" dirty="0"/>
              <a:t>Team 20</a:t>
            </a:r>
          </a:p>
          <a:p>
            <a:r>
              <a:rPr lang="en-US" noProof="0" dirty="0"/>
              <a:t>Team Leader: 113062627 </a:t>
            </a:r>
            <a:r>
              <a:rPr lang="en-US" noProof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陳奕安</a:t>
            </a:r>
            <a:endParaRPr lang="en-US" noProof="0" dirty="0"/>
          </a:p>
          <a:p>
            <a:r>
              <a:rPr lang="en-US" noProof="0" dirty="0"/>
              <a:t>Team Members: 113062627 </a:t>
            </a:r>
            <a:r>
              <a:rPr lang="en-US" noProof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陳奕安</a:t>
            </a:r>
            <a:r>
              <a:rPr lang="en-US" noProof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noProof="0" dirty="0"/>
              <a:t>113062529 </a:t>
            </a:r>
            <a:r>
              <a:rPr lang="en-US" noProof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鄭凱元</a:t>
            </a:r>
          </a:p>
        </p:txBody>
      </p:sp>
    </p:spTree>
    <p:extLst>
      <p:ext uri="{BB962C8B-B14F-4D97-AF65-F5344CB8AC3E}">
        <p14:creationId xmlns:p14="http://schemas.microsoft.com/office/powerpoint/2010/main" val="5536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Serial CPU 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OpenMP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Hybrid (MPI + OpenMP)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CUDA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1030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0F74A30-2EC6-F744-0C15-34CFCFB2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240" y="2068283"/>
            <a:ext cx="7542320" cy="4204083"/>
          </a:xfrm>
        </p:spPr>
        <p:txBody>
          <a:bodyPr/>
          <a:lstStyle/>
          <a:p>
            <a:r>
              <a:rPr lang="en-US" b="1" noProof="0" dirty="0"/>
              <a:t>Problem:</a:t>
            </a:r>
            <a:r>
              <a:rPr lang="en-US" noProof="0" dirty="0"/>
              <a:t> </a:t>
            </a:r>
            <a:r>
              <a:rPr lang="en-US" b="1" noProof="0" dirty="0"/>
              <a:t>N-body simulation. </a:t>
            </a:r>
            <a:br>
              <a:rPr lang="en-US" b="1" noProof="0" dirty="0"/>
            </a:br>
            <a:r>
              <a:rPr lang="en-US" sz="2400" noProof="0" dirty="0"/>
              <a:t>Compute all-pairs gravitational forces between </a:t>
            </a:r>
            <a:r>
              <a:rPr lang="en-US" sz="2400" b="1" noProof="0" dirty="0"/>
              <a:t>N particles</a:t>
            </a:r>
            <a:r>
              <a:rPr lang="en-US" sz="2400" noProof="0" dirty="0"/>
              <a:t> and update positions/velocities over </a:t>
            </a:r>
            <a:r>
              <a:rPr lang="en-US" sz="2400" b="1" noProof="0" dirty="0"/>
              <a:t>T timesteps</a:t>
            </a:r>
            <a:r>
              <a:rPr lang="en-US" sz="2400" noProof="0" dirty="0"/>
              <a:t>.</a:t>
            </a:r>
          </a:p>
          <a:p>
            <a:r>
              <a:rPr lang="en-US" b="1" noProof="0" dirty="0"/>
              <a:t>Computational complexity:</a:t>
            </a:r>
          </a:p>
          <a:p>
            <a:pPr lvl="1"/>
            <a:r>
              <a:rPr lang="en-US" noProof="0" dirty="0"/>
              <a:t>Per timestep: </a:t>
            </a:r>
            <a:r>
              <a:rPr lang="en-US" b="1" noProof="0" dirty="0"/>
              <a:t>O(N²)</a:t>
            </a:r>
            <a:r>
              <a:rPr lang="en-US" noProof="0" dirty="0"/>
              <a:t> force evaluations.</a:t>
            </a:r>
          </a:p>
          <a:p>
            <a:pPr lvl="1"/>
            <a:r>
              <a:rPr lang="en-US" noProof="0" dirty="0"/>
              <a:t>Whole simulation: </a:t>
            </a:r>
            <a:r>
              <a:rPr lang="en-US" b="1" noProof="0" dirty="0"/>
              <a:t>O(T · N²).</a:t>
            </a:r>
          </a:p>
          <a:p>
            <a:pPr lvl="1"/>
            <a:r>
              <a:rPr lang="en-US" noProof="0" dirty="0"/>
              <a:t>End-to-end runtime includes </a:t>
            </a:r>
            <a:r>
              <a:rPr lang="en-US" b="1" noProof="0" dirty="0"/>
              <a:t>compute + memory traffic + I/O (trajectory dump)</a:t>
            </a:r>
            <a:r>
              <a:rPr lang="en-US" noProof="0" dirty="0"/>
              <a:t>.</a:t>
            </a:r>
            <a:endParaRPr lang="en-US" b="1" noProof="0" dirty="0"/>
          </a:p>
          <a:p>
            <a:endParaRPr lang="en-US" noProof="0" dirty="0"/>
          </a:p>
        </p:txBody>
      </p:sp>
      <p:pic>
        <p:nvPicPr>
          <p:cNvPr id="1027" name="Picture 3" descr="Nbody Simulation">
            <a:extLst>
              <a:ext uri="{FF2B5EF4-FFF2-40B4-BE49-F238E27FC236}">
                <a16:creationId xmlns:a16="http://schemas.microsoft.com/office/drawing/2014/main" id="{45B47208-5DFB-049E-EE5E-E605DFA4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560" y="2205595"/>
            <a:ext cx="2857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7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0F74A30-2EC6-F744-0C15-34CFCFB2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4"/>
          </a:xfrm>
        </p:spPr>
        <p:txBody>
          <a:bodyPr/>
          <a:lstStyle/>
          <a:p>
            <a:r>
              <a:rPr lang="en-US" b="1" noProof="0" dirty="0"/>
              <a:t>Goal of this project:</a:t>
            </a:r>
          </a:p>
          <a:p>
            <a:pPr lvl="1"/>
            <a:r>
              <a:rPr lang="en-US" sz="2800" noProof="0" dirty="0"/>
              <a:t>Speed up the simulation on CPU using: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Serial CPU optimizations</a:t>
            </a:r>
            <a:r>
              <a:rPr lang="en-US" sz="2400" noProof="0" dirty="0"/>
              <a:t> (baseline improvements)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OpenMP</a:t>
            </a:r>
            <a:r>
              <a:rPr lang="en-US" sz="2400" noProof="0" dirty="0"/>
              <a:t> (threaded)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MPI + OpenMP</a:t>
            </a:r>
            <a:r>
              <a:rPr lang="en-US" sz="2400" noProof="0" dirty="0"/>
              <a:t> (distributed + threaded hybrid)</a:t>
            </a:r>
          </a:p>
          <a:p>
            <a:pPr lvl="1"/>
            <a:r>
              <a:rPr lang="en-US" sz="2800" noProof="0" dirty="0"/>
              <a:t>Speed up the simulation on GPU using: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Naive GPU optimizations</a:t>
            </a:r>
            <a:r>
              <a:rPr lang="en-US" sz="2400" noProof="0" dirty="0"/>
              <a:t> (baseline improvements)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Shared Memory</a:t>
            </a:r>
            <a:endParaRPr lang="en-US" sz="2400" noProof="0" dirty="0"/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Structured of Array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b="1" noProof="0" dirty="0"/>
              <a:t>AMD MI100 Porting</a:t>
            </a:r>
          </a:p>
          <a:p>
            <a:pPr marL="1371600" lvl="2" indent="-457200">
              <a:buFont typeface="+mj-lt"/>
              <a:buAutoNum type="arabicPeriod"/>
            </a:pPr>
            <a:endParaRPr lang="en-US" b="1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885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33B08840-4112-3CFF-3AA4-3FE79054E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6B8E650-AB76-B2A6-CACB-3E86A3AA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2EC69B-89F2-A75D-4BB2-D6B82346E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829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b="1" noProof="0" dirty="0"/>
                  <a:t>Execution environments</a:t>
                </a:r>
              </a:p>
              <a:p>
                <a:pPr lvl="1"/>
                <a:r>
                  <a:rPr lang="en-US" sz="1800" noProof="0" dirty="0"/>
                  <a:t>CPU demo: Origo Cluster</a:t>
                </a:r>
              </a:p>
              <a:p>
                <a:pPr lvl="1"/>
                <a:r>
                  <a:rPr lang="en-US" sz="1800" noProof="0" dirty="0"/>
                  <a:t>GPU demo: Apollo Cluster</a:t>
                </a:r>
              </a:p>
              <a:p>
                <a:r>
                  <a:rPr lang="en-US" sz="2000" b="1" noProof="0" dirty="0"/>
                  <a:t>Input/Output</a:t>
                </a:r>
              </a:p>
              <a:p>
                <a:pPr lvl="1"/>
                <a:r>
                  <a:rPr lang="en-US" sz="1800" noProof="0" dirty="0"/>
                  <a:t>Input: </a:t>
                </a:r>
              </a:p>
              <a:p>
                <a:pPr lvl="2"/>
                <a:r>
                  <a:rPr lang="en-US" sz="1600" noProof="0" dirty="0"/>
                  <a:t>Simulation parameters (</a:t>
                </a:r>
                <a:r>
                  <a:rPr lang="en-US" sz="1600" b="1" noProof="0" dirty="0"/>
                  <a:t>N</a:t>
                </a:r>
                <a:r>
                  <a:rPr lang="en-US" sz="1600" noProof="0" dirty="0"/>
                  <a:t>: number of particles, </a:t>
                </a:r>
                <a:r>
                  <a:rPr lang="en-US" sz="1600" b="1" noProof="0" dirty="0" err="1"/>
                  <a:t>total_time</a:t>
                </a:r>
                <a:r>
                  <a:rPr lang="en-US" sz="1600" noProof="0" dirty="0"/>
                  <a:t>: total simulated time, </a:t>
                </a:r>
                <a:r>
                  <a:rPr lang="en-US" sz="1600" b="1" noProof="0" dirty="0"/>
                  <a:t>dt</a:t>
                </a:r>
                <a:r>
                  <a:rPr lang="en-US" sz="1600" noProof="0" dirty="0"/>
                  <a:t>: time step size, </a:t>
                </a:r>
                <a:r>
                  <a:rPr lang="en-US" sz="1600" b="1" noProof="0" dirty="0" err="1"/>
                  <a:t>dump_interval</a:t>
                </a:r>
                <a:r>
                  <a:rPr lang="en-US" sz="1600" noProof="0" dirty="0"/>
                  <a:t>: output frequency (in timesteps))</a:t>
                </a:r>
              </a:p>
              <a:p>
                <a:pPr lvl="2"/>
                <a:r>
                  <a:rPr lang="en-US" sz="1600" noProof="0" dirty="0"/>
                  <a:t>Initial state (Position, Velocity, Mass) (per particle)</a:t>
                </a:r>
              </a:p>
              <a:p>
                <a:pPr lvl="1"/>
                <a:r>
                  <a:rPr lang="en-US" sz="1800" noProof="0" dirty="0"/>
                  <a:t>Output: </a:t>
                </a:r>
              </a:p>
              <a:p>
                <a:pPr lvl="2"/>
                <a:r>
                  <a:rPr lang="en-US" sz="1600" noProof="0" dirty="0"/>
                  <a:t>Trajectory data (Positions and velocities of all particles over time).</a:t>
                </a:r>
              </a:p>
              <a:p>
                <a:r>
                  <a:rPr lang="en-US" sz="2400" b="1" noProof="0" dirty="0"/>
                  <a:t>Program structure (common pipeline</a:t>
                </a:r>
                <a:r>
                  <a:rPr lang="en-US" sz="2400" noProof="0" dirty="0"/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Input / initialization: Parse 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N,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total_time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, dt,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dump_interval</a:t>
                </a:r>
                <a:r>
                  <a:rPr lang="en-US" sz="1800" noProof="0" dirty="0"/>
                  <a:t>, allocate bodies &amp; buffers.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Core compute: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compute_acceleration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()</a:t>
                </a:r>
                <a:r>
                  <a:rPr lang="en-US" sz="1800" noProof="0" dirty="0"/>
                  <a:t> : all-pairs force accumulation </a:t>
                </a:r>
                <a:r>
                  <a:rPr lang="en-US" sz="1800" b="1" noProof="0" dirty="0"/>
                  <a:t>O(N²).</a:t>
                </a:r>
                <a:endParaRPr lang="en-US" sz="1800" noProof="0" dirty="0">
                  <a:highlight>
                    <a:srgbClr val="C0C0C0"/>
                  </a:highlight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Time integration: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step_leapfrog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() </a:t>
                </a:r>
                <a:r>
                  <a:rPr lang="en-US" sz="1800" noProof="0" dirty="0"/>
                  <a:t>: update v(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noProof="0" dirty="0"/>
                  <a:t> )</a:t>
                </a:r>
                <a:r>
                  <a:rPr lang="en-US" sz="1800" noProof="0" dirty="0"/>
                  <a:t> (Velocity) → x(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(Position) → a(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(Acceleration) → v(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(Leapfrog).</a:t>
                </a:r>
                <a:endParaRPr lang="en-US" sz="1800" noProof="0" dirty="0">
                  <a:highlight>
                    <a:srgbClr val="C0C0C0"/>
                  </a:highlight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Trajectory output: Periodic CSV dump (controlled by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dump_interval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 </a:t>
                </a:r>
                <a:r>
                  <a:rPr lang="en-US" sz="1800" noProof="0" dirty="0"/>
                  <a:t>).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2EC69B-89F2-A75D-4BB2-D6B82346E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82974"/>
              </a:xfrm>
              <a:blipFill>
                <a:blip r:embed="rId3"/>
                <a:stretch>
                  <a:fillRect l="-844" t="-1990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1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73996920-ECFB-FAE6-3117-7C84B49F8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Serial CPU Optimization</a:t>
            </a:r>
          </a:p>
        </p:txBody>
      </p:sp>
      <p:pic>
        <p:nvPicPr>
          <p:cNvPr id="6" name="內容版面配置區 5" descr="一張含有 文字, 螢幕擷取畫面, 圖表, Rectangle 的圖片&#10;&#10;自動產生的描述">
            <a:extLst>
              <a:ext uri="{FF2B5EF4-FFF2-40B4-BE49-F238E27FC236}">
                <a16:creationId xmlns:a16="http://schemas.microsoft.com/office/drawing/2014/main" id="{1E4CE9E2-95B2-AF7B-343F-DCE395AB8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9" y="1690688"/>
            <a:ext cx="6562925" cy="3937755"/>
          </a:xfrm>
          <a:ln w="28575"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11175D-54FF-FB59-B36F-8741A98B6034}"/>
              </a:ext>
            </a:extLst>
          </p:cNvPr>
          <p:cNvSpPr txBox="1"/>
          <p:nvPr/>
        </p:nvSpPr>
        <p:spPr>
          <a:xfrm>
            <a:off x="7062240" y="1323635"/>
            <a:ext cx="501588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>
                <a:solidFill>
                  <a:srgbClr val="4C72B0"/>
                </a:solidFill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Naive serial implementation, </a:t>
            </a:r>
            <a:r>
              <a:rPr lang="en-US" noProof="0" dirty="0" err="1"/>
              <a:t>AoS</a:t>
            </a:r>
            <a:r>
              <a:rPr lang="en-US" noProof="0" dirty="0"/>
              <a:t> </a:t>
            </a:r>
            <a:r>
              <a:rPr lang="en-US" noProof="0" dirty="0" err="1"/>
              <a:t>DataStruct</a:t>
            </a:r>
            <a:r>
              <a:rPr lang="en-US" noProof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Used as </a:t>
            </a:r>
            <a:r>
              <a:rPr lang="en-US" b="1" noProof="0" dirty="0"/>
              <a:t>baseline (1.00×).</a:t>
            </a:r>
          </a:p>
          <a:p>
            <a:r>
              <a:rPr lang="en-US" sz="2000" noProof="0" dirty="0">
                <a:solidFill>
                  <a:srgbClr val="55A868"/>
                </a:solidFill>
              </a:rPr>
              <a:t>SIMD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Use </a:t>
            </a:r>
            <a:r>
              <a:rPr lang="en-US" b="1" noProof="0" dirty="0"/>
              <a:t>vector instructions (SSE2)</a:t>
            </a:r>
            <a:r>
              <a:rPr lang="en-US" noProof="0" dirty="0"/>
              <a:t> to compute multiple interactions per iteration.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Improve instruction-level parallelism.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~</a:t>
            </a:r>
            <a:r>
              <a:rPr lang="en-US" b="1" noProof="0" dirty="0"/>
              <a:t>1.9× speedup.</a:t>
            </a:r>
            <a:endParaRPr lang="en-US" noProof="0" dirty="0"/>
          </a:p>
          <a:p>
            <a:r>
              <a:rPr lang="en-US" sz="2000" noProof="0" dirty="0">
                <a:solidFill>
                  <a:srgbClr val="C44E52"/>
                </a:solidFill>
              </a:rPr>
              <a:t>SIMD + Unroll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Further </a:t>
            </a:r>
            <a:r>
              <a:rPr lang="en-US" b="1" noProof="0" dirty="0"/>
              <a:t>loop unrolling</a:t>
            </a:r>
            <a:r>
              <a:rPr lang="en-US" noProof="0" dirty="0"/>
              <a:t> to reduce loop overhead.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Better instruction scheduling and pipeline utilization.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Slight additional speedup over SIMD.</a:t>
            </a:r>
          </a:p>
          <a:p>
            <a:r>
              <a:rPr lang="en-US" sz="2000" noProof="0" dirty="0">
                <a:solidFill>
                  <a:srgbClr val="8172B3"/>
                </a:solidFill>
              </a:rPr>
              <a:t>OMP (1 Core)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Enable OpenMP but restrict to </a:t>
            </a:r>
            <a:r>
              <a:rPr lang="en-US" b="1" noProof="0" dirty="0"/>
              <a:t>single thread.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Performance slightly better due to compiler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910216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954DCB0E-2F98-42F2-EA3C-AC11BE3A3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58F3049-8A63-16A9-8DB6-966C043F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Profiling (N = 4096)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850F78-6813-852A-AA31-D5D558DD5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noProof="0" dirty="0"/>
              <a:t>Tool: </a:t>
            </a:r>
            <a:r>
              <a:rPr lang="en-US" sz="2400" noProof="0" dirty="0" err="1"/>
              <a:t>gprof</a:t>
            </a:r>
            <a:endParaRPr lang="en-US" sz="2400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D53A69-562E-DB86-4050-15F6390EC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1182"/>
            <a:ext cx="4671515" cy="124724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3E3AF3E-5502-BA5E-8720-92996E10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277" y="2385140"/>
            <a:ext cx="4511197" cy="13107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5266A1-7484-CD82-6A2B-0CBF41383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63368"/>
            <a:ext cx="4671515" cy="135587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FB5D02A-359F-44B0-CB46-4D0AC2C79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277" y="3763368"/>
            <a:ext cx="4551712" cy="131076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7C18EA0-53D6-7874-E146-61775B258EBE}"/>
              </a:ext>
            </a:extLst>
          </p:cNvPr>
          <p:cNvSpPr txBox="1"/>
          <p:nvPr/>
        </p:nvSpPr>
        <p:spPr>
          <a:xfrm>
            <a:off x="838199" y="5141596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/>
              <a:t>Observation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noProof="0" dirty="0" err="1">
                <a:highlight>
                  <a:srgbClr val="C0C0C0"/>
                </a:highlight>
              </a:rPr>
              <a:t>compute_acceleration</a:t>
            </a:r>
            <a:r>
              <a:rPr lang="en-US" sz="2000" noProof="0" dirty="0">
                <a:highlight>
                  <a:srgbClr val="C0C0C0"/>
                </a:highlight>
              </a:rPr>
              <a:t>() </a:t>
            </a:r>
            <a:r>
              <a:rPr lang="en-US" sz="2000" noProof="0" dirty="0"/>
              <a:t>dominates runtime. Other components are </a:t>
            </a:r>
            <a:r>
              <a:rPr lang="en-US" sz="2000" b="1" noProof="0" dirty="0"/>
              <a:t>negligible.</a:t>
            </a:r>
            <a:endParaRPr lang="en-US" sz="2000" noProof="0" dirty="0"/>
          </a:p>
          <a:p>
            <a:r>
              <a:rPr lang="en-US" sz="2000" noProof="0" dirty="0"/>
              <a:t>Key takeaway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Performance improvement comes almost entirely from </a:t>
            </a:r>
            <a:r>
              <a:rPr lang="en-US" b="1" noProof="0" dirty="0"/>
              <a:t>optimizing the O(N²) force computation.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Loop unrolling shows </a:t>
            </a:r>
            <a:r>
              <a:rPr lang="en-US" b="1" noProof="0" dirty="0"/>
              <a:t>diminishing returns</a:t>
            </a:r>
            <a:r>
              <a:rPr lang="en-US" noProof="0" dirty="0"/>
              <a:t> beyond a certain point</a:t>
            </a:r>
          </a:p>
        </p:txBody>
      </p:sp>
    </p:spTree>
    <p:extLst>
      <p:ext uri="{BB962C8B-B14F-4D97-AF65-F5344CB8AC3E}">
        <p14:creationId xmlns:p14="http://schemas.microsoft.com/office/powerpoint/2010/main" val="344939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401197D7-792E-4E7C-0998-59DC454CB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9896524-BAC0-D9C2-D7DA-54570A60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Speedup Table</a:t>
            </a: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F98406B-3C0E-D8DD-21B8-98D65F775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64811"/>
              </p:ext>
            </p:extLst>
          </p:nvPr>
        </p:nvGraphicFramePr>
        <p:xfrm>
          <a:off x="1463522" y="2237173"/>
          <a:ext cx="9264955" cy="3309604"/>
        </p:xfrm>
        <a:graphic>
          <a:graphicData uri="http://schemas.openxmlformats.org/drawingml/2006/table">
            <a:tbl>
              <a:tblPr/>
              <a:tblGrid>
                <a:gridCol w="1852991">
                  <a:extLst>
                    <a:ext uri="{9D8B030D-6E8A-4147-A177-3AD203B41FA5}">
                      <a16:colId xmlns:a16="http://schemas.microsoft.com/office/drawing/2014/main" val="1385940312"/>
                    </a:ext>
                  </a:extLst>
                </a:gridCol>
                <a:gridCol w="1852991">
                  <a:extLst>
                    <a:ext uri="{9D8B030D-6E8A-4147-A177-3AD203B41FA5}">
                      <a16:colId xmlns:a16="http://schemas.microsoft.com/office/drawing/2014/main" val="149071964"/>
                    </a:ext>
                  </a:extLst>
                </a:gridCol>
                <a:gridCol w="1852991">
                  <a:extLst>
                    <a:ext uri="{9D8B030D-6E8A-4147-A177-3AD203B41FA5}">
                      <a16:colId xmlns:a16="http://schemas.microsoft.com/office/drawing/2014/main" val="2238211463"/>
                    </a:ext>
                  </a:extLst>
                </a:gridCol>
                <a:gridCol w="1852991">
                  <a:extLst>
                    <a:ext uri="{9D8B030D-6E8A-4147-A177-3AD203B41FA5}">
                      <a16:colId xmlns:a16="http://schemas.microsoft.com/office/drawing/2014/main" val="1607399349"/>
                    </a:ext>
                  </a:extLst>
                </a:gridCol>
                <a:gridCol w="1852991">
                  <a:extLst>
                    <a:ext uri="{9D8B030D-6E8A-4147-A177-3AD203B41FA5}">
                      <a16:colId xmlns:a16="http://schemas.microsoft.com/office/drawing/2014/main" val="1800734347"/>
                    </a:ext>
                  </a:extLst>
                </a:gridCol>
              </a:tblGrid>
              <a:tr h="582825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Version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Time (s)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Step Speedup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Cumulative Speedup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說明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984347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Base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574.83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1.00x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Baseline (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原始版本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281052"/>
                  </a:ext>
                </a:extLst>
              </a:tr>
              <a:tr h="572762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SIMD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300.52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加入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SSE 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向量化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091638"/>
                  </a:ext>
                </a:extLst>
              </a:tr>
              <a:tr h="804853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SIMD + Unroll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298.23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1.93x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額外進行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Loop Unrolling (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提升微小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29939"/>
                  </a:ext>
                </a:extLst>
              </a:tr>
              <a:tr h="572762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OMP (1 Core)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275.50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1.08x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2.09x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OpenMP (-c1)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30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73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OpenMP Strong Scalability</a:t>
            </a:r>
          </a:p>
        </p:txBody>
      </p:sp>
      <p:pic>
        <p:nvPicPr>
          <p:cNvPr id="6" name="內容版面配置區 5" descr="一張含有 文字, 圖表, 行, 繪圖 的圖片&#10;&#10;自動產生的描述">
            <a:extLst>
              <a:ext uri="{FF2B5EF4-FFF2-40B4-BE49-F238E27FC236}">
                <a16:creationId xmlns:a16="http://schemas.microsoft.com/office/drawing/2014/main" id="{C4EAC929-E3BB-7FFB-0D65-76B753D8C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3" y="1690688"/>
            <a:ext cx="5894772" cy="2947386"/>
          </a:xfrm>
          <a:ln w="28575"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E38A49-3203-5539-D88D-99B64C6C11AD}"/>
              </a:ext>
            </a:extLst>
          </p:cNvPr>
          <p:cNvSpPr txBox="1"/>
          <p:nvPr/>
        </p:nvSpPr>
        <p:spPr>
          <a:xfrm>
            <a:off x="6328299" y="1690688"/>
            <a:ext cx="58637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Execution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Runtime decreases significantly as core count increases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From ~275 s (1 core) to ~28 s (12 cores)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Speedup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Achieves near-linear speedup up to moderate core 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~</a:t>
            </a:r>
            <a:r>
              <a:rPr lang="en-US" b="1" noProof="0" dirty="0"/>
              <a:t>9.8× speedup</a:t>
            </a:r>
            <a:r>
              <a:rPr lang="en-US" noProof="0" dirty="0"/>
              <a:t> on 12 cores (ideal: 12×)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Reason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Workload dominated by </a:t>
            </a:r>
            <a:r>
              <a:rPr lang="en-US" b="1" noProof="0" dirty="0"/>
              <a:t>O(N²) </a:t>
            </a:r>
            <a:r>
              <a:rPr lang="en-US" noProof="0" dirty="0" err="1">
                <a:highlight>
                  <a:srgbClr val="C0C0C0"/>
                </a:highlight>
              </a:rPr>
              <a:t>compute_acceleration</a:t>
            </a:r>
            <a:endParaRPr lang="en-US" noProof="0" dirty="0">
              <a:highlight>
                <a:srgbClr val="C0C0C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Minimal synchronization and OpenMP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Limitation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Deviation from ideal scaling due to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noProof="0" dirty="0"/>
              <a:t>Memory bandwidth contention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noProof="0" dirty="0"/>
              <a:t>OpenMP scheduling and synchronization overhead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F2D67A1-39B8-DDBD-8CC3-9BBE597198CB}"/>
              </a:ext>
            </a:extLst>
          </p:cNvPr>
          <p:cNvSpPr txBox="1"/>
          <p:nvPr/>
        </p:nvSpPr>
        <p:spPr>
          <a:xfrm>
            <a:off x="298313" y="4638074"/>
            <a:ext cx="55572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Setup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Fixed problem size (</a:t>
            </a:r>
            <a:r>
              <a:rPr lang="en-US" b="1" noProof="0" dirty="0"/>
              <a:t>N = 4096</a:t>
            </a:r>
            <a:r>
              <a:rPr lang="en-US" noProof="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Vary number of CPU cores (1 → 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Measure </a:t>
            </a:r>
            <a:r>
              <a:rPr lang="en-US" b="1" noProof="0" dirty="0"/>
              <a:t>strong scalability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719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Hybrid Strong Scalability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9ACC355A-6337-7B38-74F7-F384739BE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414939"/>
              </p:ext>
            </p:extLst>
          </p:nvPr>
        </p:nvGraphicFramePr>
        <p:xfrm>
          <a:off x="232300" y="1690688"/>
          <a:ext cx="5626962" cy="4449903"/>
        </p:xfrm>
        <a:graphic>
          <a:graphicData uri="http://schemas.openxmlformats.org/drawingml/2006/table">
            <a:tbl>
              <a:tblPr/>
              <a:tblGrid>
                <a:gridCol w="937827">
                  <a:extLst>
                    <a:ext uri="{9D8B030D-6E8A-4147-A177-3AD203B41FA5}">
                      <a16:colId xmlns:a16="http://schemas.microsoft.com/office/drawing/2014/main" val="123068817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244639254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3980149363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80910841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3498731255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568290910"/>
                    </a:ext>
                  </a:extLst>
                </a:gridCol>
              </a:tblGrid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Cores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 (s)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Speedup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Efficiency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說明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4613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74.20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3.71x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92.8%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單節點基準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752877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41.83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6.59x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82.3%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0925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28.99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9.50x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79.2%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單節點最強效能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8799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38.83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7.10x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跨節點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低通訊壓力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98805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27.26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10.11x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63.2%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62491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16.41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16.79x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70.0%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雙節點滿載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42539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27.14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10.15x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84.6%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553377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17.74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15.53x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5529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13.99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19.69x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效率開始下降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通訊佔比增高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31868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21.30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12.93x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80.8%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914854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14.35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19.20x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60.0%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88781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11.74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23.47x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48.9%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最高效能</a:t>
                      </a:r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(Peak Speedup)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58564"/>
                  </a:ext>
                </a:extLst>
              </a:tr>
            </a:tbl>
          </a:graphicData>
        </a:graphic>
      </p:graphicFrame>
      <p:pic>
        <p:nvPicPr>
          <p:cNvPr id="7" name="圖片 6" descr="一張含有 文字, 行, 繪圖, 圖表 的圖片&#10;&#10;自動產生的描述">
            <a:extLst>
              <a:ext uri="{FF2B5EF4-FFF2-40B4-BE49-F238E27FC236}">
                <a16:creationId xmlns:a16="http://schemas.microsoft.com/office/drawing/2014/main" id="{2BE4DBBE-F1C7-7E2A-8EDE-0D5515A8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65" y="1027906"/>
            <a:ext cx="4248335" cy="25490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圖片 8" descr="一張含有 文字, 螢幕擷取畫面, 圖表, 繪圖 的圖片&#10;&#10;自動產生的描述">
            <a:extLst>
              <a:ext uri="{FF2B5EF4-FFF2-40B4-BE49-F238E27FC236}">
                <a16:creationId xmlns:a16="http://schemas.microsoft.com/office/drawing/2014/main" id="{3540735F-A40B-692C-FEBD-006C97CAE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0" y="3679394"/>
            <a:ext cx="5626962" cy="28134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279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Execution Time Breakdown (MPI + OpenMP, N = 4096)</a:t>
            </a:r>
          </a:p>
        </p:txBody>
      </p:sp>
      <p:pic>
        <p:nvPicPr>
          <p:cNvPr id="6" name="內容版面配置區 5" descr="一張含有 文字, 螢幕擷取畫面 的圖片&#10;&#10;自動產生的描述">
            <a:extLst>
              <a:ext uri="{FF2B5EF4-FFF2-40B4-BE49-F238E27FC236}">
                <a16:creationId xmlns:a16="http://schemas.microsoft.com/office/drawing/2014/main" id="{47D3CCA7-6E6A-487C-CA22-2ACAE7627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0707"/>
            <a:ext cx="10515600" cy="4321173"/>
          </a:xfrm>
        </p:spPr>
      </p:pic>
    </p:spTree>
    <p:extLst>
      <p:ext uri="{BB962C8B-B14F-4D97-AF65-F5344CB8AC3E}">
        <p14:creationId xmlns:p14="http://schemas.microsoft.com/office/powerpoint/2010/main" val="409386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and GPU Implementations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noProof="0" dirty="0"/>
              <a:t>Baseline Version (Baseline)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Baseline w/ Shared Memory using Tiled Block of Size 256 (SM, B=256)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SM w/ Structure of Arrays Memory Storage Pattern (</a:t>
            </a:r>
            <a:r>
              <a:rPr lang="en-US" sz="2000" noProof="0" dirty="0" err="1"/>
              <a:t>SoA</a:t>
            </a:r>
            <a:r>
              <a:rPr lang="en-US" sz="2000" noProof="0" dirty="0"/>
              <a:t>, B=256)</a:t>
            </a:r>
          </a:p>
          <a:p>
            <a:pPr>
              <a:lnSpc>
                <a:spcPct val="150000"/>
              </a:lnSpc>
            </a:pPr>
            <a:r>
              <a:rPr lang="en-US" sz="2000" noProof="0" dirty="0" err="1"/>
              <a:t>SoA</a:t>
            </a:r>
            <a:r>
              <a:rPr lang="en-US" sz="2000" noProof="0" dirty="0"/>
              <a:t> w/ Tiled Block Size Tuning (</a:t>
            </a:r>
            <a:r>
              <a:rPr lang="en-US" sz="2000" noProof="0" dirty="0" err="1"/>
              <a:t>SoA</a:t>
            </a:r>
            <a:r>
              <a:rPr lang="en-US" sz="2000" noProof="0" dirty="0"/>
              <a:t>, B=64)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CUDA version directly ported to AMD HIP version (AMD-Ported)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Profiled w/ </a:t>
            </a:r>
            <a:r>
              <a:rPr lang="en-US" sz="2000" dirty="0" err="1"/>
              <a:t>nvprof</a:t>
            </a:r>
            <a:r>
              <a:rPr lang="en-US" sz="2000" dirty="0"/>
              <a:t> at N = 2048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082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0824-2AC6-F098-650C-40C5C419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A3BA3782-AE9B-583A-7041-03B24EC50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5EF6ED2-CB40-AC8F-5693-C55C4845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99D06F-949D-C0E2-BAC8-AF9EBCA8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b="1" noProof="0" dirty="0"/>
              <a:t>Global Memory Load </a:t>
            </a:r>
            <a:r>
              <a:rPr lang="en-US" sz="1800" b="1" dirty="0"/>
              <a:t>Efficiency </a:t>
            </a:r>
            <a:r>
              <a:rPr lang="en-US" sz="1800" dirty="0"/>
              <a:t>(`</a:t>
            </a:r>
            <a:r>
              <a:rPr lang="en-US" sz="1800" dirty="0" err="1"/>
              <a:t>gld_efficiency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requested global memory load throughput to required global memory load throughput expressed as percentage.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Global Memory Store </a:t>
            </a:r>
            <a:r>
              <a:rPr lang="en-US" sz="1800" b="1" dirty="0"/>
              <a:t>Efficiency </a:t>
            </a:r>
            <a:r>
              <a:rPr lang="en-US" sz="1800" dirty="0"/>
              <a:t>(`</a:t>
            </a:r>
            <a:r>
              <a:rPr lang="en-US" sz="1800" dirty="0" err="1"/>
              <a:t>gst_efficiency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requested global memory store throughput to required global memory store throughput expressed as percentage.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Shared Memory Store Transactions Per </a:t>
            </a:r>
            <a:r>
              <a:rPr lang="en-US" sz="1800" b="1" dirty="0"/>
              <a:t>Request </a:t>
            </a:r>
            <a:r>
              <a:rPr lang="en-US" sz="1800" dirty="0"/>
              <a:t>(`</a:t>
            </a:r>
            <a:r>
              <a:rPr lang="en-US" sz="1800" dirty="0" err="1"/>
              <a:t>shared_store_transactions_per_request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Average number of shared memory store transactions performed for each shared memory store.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472181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3673B5C7-8C62-08BF-DCF4-5A43AF503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58963B2-7B94-4688-71F2-DE931C3D27EC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4807285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Array of Structs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Non-Coalescing Memory Access (GLD Eff 25%)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Shared Memory Bank Conflict (Shared Store TX 1.43)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Structure of Arrays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Coalescing Memory Access (GLD Eff 25% -&gt; 99.8%)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Reduced Bank Conflict (Shared Store TX 1.43 -&gt; 1.20)</a:t>
            </a:r>
          </a:p>
          <a:p>
            <a:pPr>
              <a:lnSpc>
                <a:spcPct val="150000"/>
              </a:lnSpc>
            </a:pPr>
            <a:r>
              <a:rPr lang="en-US" sz="1600" noProof="0" dirty="0"/>
              <a:t>Conclusions: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Memory Bound -&gt; Compute Bound Problem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FP64 Throughput Limitation from GTX 1080</a:t>
            </a:r>
          </a:p>
        </p:txBody>
      </p:sp>
      <p:pic>
        <p:nvPicPr>
          <p:cNvPr id="6" name="內容版面配置區 5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44F7940A-DD25-8BA5-41F2-0F046B595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860" y="1697224"/>
            <a:ext cx="6832140" cy="478250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C864802-3491-97E3-06D3-724382E00B7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Memory Subsystem Efficiency</a:t>
            </a:r>
          </a:p>
        </p:txBody>
      </p:sp>
    </p:spTree>
    <p:extLst>
      <p:ext uri="{BB962C8B-B14F-4D97-AF65-F5344CB8AC3E}">
        <p14:creationId xmlns:p14="http://schemas.microsoft.com/office/powerpoint/2010/main" val="2736496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C05B-12A4-F183-6B40-067F1911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1B41EA3D-A758-E5F6-74AD-933942E2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4D35353-0C9D-1138-B17D-7F3CBEB9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BE54A7-AF2D-A607-A7F1-DDEF6429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b="1" noProof="0" dirty="0"/>
              <a:t>Multiprocessor </a:t>
            </a:r>
            <a:r>
              <a:rPr lang="en-US" sz="1800" b="1" dirty="0"/>
              <a:t>Activity </a:t>
            </a:r>
            <a:r>
              <a:rPr lang="en-US" sz="1800" dirty="0"/>
              <a:t>(`</a:t>
            </a:r>
            <a:r>
              <a:rPr lang="en-US" sz="1800" dirty="0" err="1"/>
              <a:t>sm_efficiency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The percentage of time at least one warp is active on a specific multiprocessor.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Achieved </a:t>
            </a:r>
            <a:r>
              <a:rPr lang="en-US" sz="1800" b="1" dirty="0"/>
              <a:t>Occupancy </a:t>
            </a:r>
            <a:r>
              <a:rPr lang="en-US" sz="1800" dirty="0"/>
              <a:t>(`</a:t>
            </a:r>
            <a:r>
              <a:rPr lang="en-US" sz="1800" dirty="0" err="1"/>
              <a:t>achieved_occupancy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the average active warps per active cycle to the maximum number of warps supported on a multiprocessor.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2094933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8E0A-BE01-3139-8346-87B8B5FB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FC0C51B8-1017-52C5-775D-3274AF018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ABF9476-972F-AE3E-D673-89B07218EA02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4807285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SM Efficiency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Lot of Stalls =&gt; Warps waiting for Memory Read</a:t>
            </a:r>
          </a:p>
          <a:p>
            <a:pPr lvl="2">
              <a:lnSpc>
                <a:spcPct val="150000"/>
              </a:lnSpc>
            </a:pPr>
            <a:r>
              <a:rPr lang="en-US" sz="1200" b="1" noProof="0" dirty="0" err="1"/>
              <a:t>SoA</a:t>
            </a:r>
            <a:r>
              <a:rPr lang="en-US" sz="1200" b="1" noProof="0" dirty="0"/>
              <a:t> resolved Memory Read Issue.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However, w/ N = 2048, B = 256, 2048 / 256 = 8 blocks for 20 Streaming Multiprocessors =&gt; ~40% actives.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2048 / 64 = 32 blocks =&gt; ~100% actives.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Achieved Occupancy</a:t>
            </a:r>
          </a:p>
          <a:p>
            <a:pPr lvl="2">
              <a:lnSpc>
                <a:spcPct val="150000"/>
              </a:lnSpc>
            </a:pPr>
            <a:r>
              <a:rPr lang="en-US" sz="1200" b="1" noProof="0" dirty="0"/>
              <a:t>Naturally Low </a:t>
            </a:r>
            <a:r>
              <a:rPr lang="en-US" sz="1200" noProof="0" dirty="0"/>
              <a:t>since the problem is too small.</a:t>
            </a:r>
          </a:p>
          <a:p>
            <a:pPr lvl="2">
              <a:lnSpc>
                <a:spcPct val="150000"/>
              </a:lnSpc>
            </a:pPr>
            <a:r>
              <a:rPr lang="en-US" sz="1200" noProof="0" dirty="0"/>
              <a:t>Acceptable since SM Efficiency is high.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3A49DAF-EA88-F392-01D9-3B21DE18B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9860" y="1697224"/>
            <a:ext cx="6832140" cy="478250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0E00AE0-78E6-A600-858F-F9C38210BB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Compute Utilization</a:t>
            </a:r>
          </a:p>
        </p:txBody>
      </p:sp>
    </p:spTree>
    <p:extLst>
      <p:ext uri="{BB962C8B-B14F-4D97-AF65-F5344CB8AC3E}">
        <p14:creationId xmlns:p14="http://schemas.microsoft.com/office/powerpoint/2010/main" val="173395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(Execution Dependency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stall_exec_dependency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an input required by the instruction is not yet available.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(Data Request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stall_memory_dependency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a memory operation cannot be performed due to the required resources not being available or fully utilized, or because too many requests of a given type are outstanding.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(Synchronization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stall_sync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the warp is blocked at a __</a:t>
            </a:r>
            <a:r>
              <a:rPr lang="en-US" sz="1600" dirty="0" err="1"/>
              <a:t>syncthreads</a:t>
            </a:r>
            <a:r>
              <a:rPr lang="en-US" sz="1600" dirty="0"/>
              <a:t>() call.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31585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5E5C-FF3F-48F7-1D80-CB80F58A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DB4F72F9-F297-AA1C-0CB6-7E758FF2D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C9F08DE-35B8-9243-16A1-BFBCDBAF9108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4810863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200" noProof="0" dirty="0"/>
              <a:t>Baseline version: Dependency caused by Memory Dependency Stall is ~12% (red), then resolved via </a:t>
            </a:r>
            <a:r>
              <a:rPr lang="en-US" sz="1200" b="1" noProof="0" dirty="0"/>
              <a:t>Shared Memory</a:t>
            </a:r>
            <a:r>
              <a:rPr lang="en-US" sz="1200" noProof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200" noProof="0" dirty="0"/>
              <a:t>Memory Dependency Stall becomes Synchronization Overhead w/ </a:t>
            </a:r>
            <a:r>
              <a:rPr lang="en-US" sz="1200" b="1" noProof="0" dirty="0"/>
              <a:t>Shared Memory &amp; </a:t>
            </a:r>
            <a:r>
              <a:rPr lang="en-US" sz="1200" b="1" noProof="0" dirty="0" err="1"/>
              <a:t>SoA</a:t>
            </a:r>
            <a:r>
              <a:rPr lang="en-US" sz="1200" noProof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200" noProof="0" dirty="0"/>
              <a:t>The bottleneck proved to be the </a:t>
            </a:r>
            <a:r>
              <a:rPr lang="en-US" sz="1200" b="1" noProof="0" dirty="0"/>
              <a:t>Execution Dependency Stall</a:t>
            </a:r>
            <a:r>
              <a:rPr lang="en-US" sz="1200" noProof="0" dirty="0"/>
              <a:t>, since we use `sqrt ()` to maintain the precision.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E83B3C7-1AF7-9A1C-93FD-D8268D1FA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1306" y="1954726"/>
            <a:ext cx="5931112" cy="415178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1AC0FA46-5786-AB1C-16D7-F956749AB7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Instruction Stall Analysis</a:t>
            </a:r>
          </a:p>
        </p:txBody>
      </p:sp>
      <p:pic>
        <p:nvPicPr>
          <p:cNvPr id="3" name="圖片 2" descr="一張含有 文字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0FEF843B-B9E7-4C41-4E74-AC0852A4B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896" y="4582510"/>
            <a:ext cx="3033987" cy="22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2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42A5-48D8-B3B2-BA2B-173F2B2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C5DD8D43-E3E5-51A6-B93E-E811B6655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1B79C7B-AD0F-D9D9-25BD-25E5E1CD347B}"/>
              </a:ext>
            </a:extLst>
          </p:cNvPr>
          <p:cNvSpPr txBox="1">
            <a:spLocks/>
          </p:cNvSpPr>
          <p:nvPr/>
        </p:nvSpPr>
        <p:spPr>
          <a:xfrm>
            <a:off x="360228" y="2070441"/>
            <a:ext cx="3465538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Solved Problem: </a:t>
            </a:r>
            <a:r>
              <a:rPr lang="en-US" sz="1600" b="1" noProof="0" dirty="0"/>
              <a:t>Memory Issue</a:t>
            </a:r>
            <a:r>
              <a:rPr lang="en-US" sz="1600" noProof="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Unsolved Problem: Compute Bound caused by FP64 Precision Operation and NVIDIA GTX 1080’s </a:t>
            </a:r>
            <a:r>
              <a:rPr lang="en-US" sz="1600" b="1" dirty="0"/>
              <a:t>Compute Limitation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Solution: Porting to AMD MI100.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Results: w/ N = 16384, total time spend, reduced from 150s (v2) to 133s (v3), then to 33s (v4), </a:t>
            </a:r>
            <a:r>
              <a:rPr lang="en-US" sz="1600" b="1" dirty="0"/>
              <a:t>speedup 4.5x.</a:t>
            </a:r>
          </a:p>
        </p:txBody>
      </p:sp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D465F8C6-3B17-5645-2C4A-869CA89D2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89318" y="168876"/>
            <a:ext cx="4807285" cy="263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9CB33123-150D-9E9F-BABD-7D8C976B58C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AMD Porting</a:t>
            </a:r>
          </a:p>
        </p:txBody>
      </p:sp>
      <p:pic>
        <p:nvPicPr>
          <p:cNvPr id="12" name="圖片 11" descr="一張含有 文字,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A23F99FD-EBD8-4873-B6DF-F5AD49200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766" y="1690688"/>
            <a:ext cx="8366234" cy="50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21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Garamond"/>
        <a:ea typeface="微軟正黑體"/>
        <a:cs typeface=""/>
      </a:majorFont>
      <a:minorFont>
        <a:latin typeface="Garamond"/>
        <a:ea typeface="微軟正黑體"/>
        <a:cs typeface="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434</TotalTime>
  <Words>1352</Words>
  <Application>Microsoft Macintosh PowerPoint</Application>
  <PresentationFormat>寬螢幕</PresentationFormat>
  <Paragraphs>244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微軟正黑體</vt:lpstr>
      <vt:lpstr>Google Sans Text</vt:lpstr>
      <vt:lpstr>Aptos</vt:lpstr>
      <vt:lpstr>Arial</vt:lpstr>
      <vt:lpstr>Cambria Math</vt:lpstr>
      <vt:lpstr>Garamond</vt:lpstr>
      <vt:lpstr>Office 2013 - 2022 主題</vt:lpstr>
      <vt:lpstr>Parallel Programming -Final Project- N-Body Simulation</vt:lpstr>
      <vt:lpstr>Outline</vt:lpstr>
      <vt:lpstr>Introduction</vt:lpstr>
      <vt:lpstr>Introduction</vt:lpstr>
      <vt:lpstr>Implementation</vt:lpstr>
      <vt:lpstr>Serial CPU Optimization</vt:lpstr>
      <vt:lpstr>Profiling (N = 4096)</vt:lpstr>
      <vt:lpstr>Speedup Table</vt:lpstr>
      <vt:lpstr>OpenMP Strong Scalability</vt:lpstr>
      <vt:lpstr>Hybrid Strong Scalability</vt:lpstr>
      <vt:lpstr>Execution Time Breakdown (MPI + OpenMP, N = 4096)</vt:lpstr>
      <vt:lpstr>CUDA and GPU Implementations</vt:lpstr>
      <vt:lpstr>CUDA Profiling Metrics</vt:lpstr>
      <vt:lpstr>PowerPoint 簡報</vt:lpstr>
      <vt:lpstr>CUDA Profiling Metrics</vt:lpstr>
      <vt:lpstr>PowerPoint 簡報</vt:lpstr>
      <vt:lpstr>CUDA Profiling Metrics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奕安 陳</dc:creator>
  <cp:lastModifiedBy>鄭凱元</cp:lastModifiedBy>
  <cp:revision>67</cp:revision>
  <dcterms:created xsi:type="dcterms:W3CDTF">2025-12-13T11:36:11Z</dcterms:created>
  <dcterms:modified xsi:type="dcterms:W3CDTF">2025-12-13T19:46:10Z</dcterms:modified>
</cp:coreProperties>
</file>